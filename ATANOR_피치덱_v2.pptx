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 flipV="1">
            <a:off x="10400990" y="3851027"/>
            <a:ext cx="689873" cy="17211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H="1" flipV="1">
            <a:off x="11198045" y="2991827"/>
            <a:ext cx="764053" cy="37065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V="1">
            <a:off x="11090863" y="2991827"/>
            <a:ext cx="107182" cy="85920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 flipH="1" flipV="1">
            <a:off x="5157133" y="1736979"/>
            <a:ext cx="1104309" cy="135589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5157133" y="1736979"/>
            <a:ext cx="1785566" cy="62796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>
            <a:off x="9381484" y="619972"/>
            <a:ext cx="998190" cy="650073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8020720" y="4765872"/>
            <a:ext cx="43699" cy="531767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1198045" y="2991827"/>
            <a:ext cx="839085" cy="29330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V="1">
            <a:off x="10072616" y="1270045"/>
            <a:ext cx="307058" cy="16354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V="1">
            <a:off x="8820964" y="2731635"/>
            <a:ext cx="1235137" cy="40841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6942699" y="1760290"/>
            <a:ext cx="963330" cy="604655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 flipH="1">
            <a:off x="10056101" y="2365424"/>
            <a:ext cx="164242" cy="366211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10379674" y="1270045"/>
            <a:ext cx="39573" cy="71359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Oval 14"/>
          <p:cNvSpPr/>
          <p:nvPr/>
        </p:nvSpPr>
        <p:spPr>
          <a:xfrm>
            <a:off x="10400990" y="4023143"/>
            <a:ext cx="50800" cy="5080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11962098" y="3362485"/>
            <a:ext cx="50800" cy="50800"/>
          </a:xfrm>
          <a:prstGeom prst="ellipse">
            <a:avLst/>
          </a:prstGeom>
          <a:solidFill>
            <a:srgbClr val="D2521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1090863" y="3851027"/>
            <a:ext cx="27940" cy="2794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261442" y="3092869"/>
            <a:ext cx="50800" cy="50800"/>
          </a:xfrm>
          <a:prstGeom prst="ellipse">
            <a:avLst/>
          </a:prstGeom>
          <a:solidFill>
            <a:srgbClr val="8A50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10368413" y="2051522"/>
            <a:ext cx="63500" cy="63500"/>
          </a:xfrm>
          <a:prstGeom prst="ellipse">
            <a:avLst/>
          </a:prstGeom>
          <a:solidFill>
            <a:srgbClr val="8A50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5157133" y="1736979"/>
            <a:ext cx="50800" cy="50800"/>
          </a:xfrm>
          <a:prstGeom prst="ellipse">
            <a:avLst/>
          </a:prstGeom>
          <a:solidFill>
            <a:srgbClr val="FF8A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9381484" y="619972"/>
            <a:ext cx="40640" cy="40640"/>
          </a:xfrm>
          <a:prstGeom prst="ellipse">
            <a:avLst/>
          </a:prstGeom>
          <a:solidFill>
            <a:srgbClr val="FF9F1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064419" y="5297639"/>
            <a:ext cx="33020" cy="33020"/>
          </a:xfrm>
          <a:prstGeom prst="ellipse">
            <a:avLst/>
          </a:prstGeom>
          <a:solidFill>
            <a:srgbClr val="FF9F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2037130" y="3285136"/>
            <a:ext cx="63500" cy="63500"/>
          </a:xfrm>
          <a:prstGeom prst="ellipse">
            <a:avLst/>
          </a:prstGeom>
          <a:solidFill>
            <a:srgbClr val="D252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0072616" y="1433587"/>
            <a:ext cx="63500" cy="6350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8820964" y="3140049"/>
            <a:ext cx="50800" cy="50800"/>
          </a:xfrm>
          <a:prstGeom prst="ellipse">
            <a:avLst/>
          </a:prstGeom>
          <a:solidFill>
            <a:srgbClr val="2A303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7906029" y="1760290"/>
            <a:ext cx="40640" cy="4064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8020720" y="4765872"/>
            <a:ext cx="82550" cy="82550"/>
          </a:xfrm>
          <a:prstGeom prst="ellipse">
            <a:avLst/>
          </a:prstGeom>
          <a:solidFill>
            <a:srgbClr val="FF9F1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220343" y="2365424"/>
            <a:ext cx="82550" cy="8255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379674" y="1270045"/>
            <a:ext cx="27940" cy="2794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198045" y="2991827"/>
            <a:ext cx="27940" cy="2794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0056101" y="2731635"/>
            <a:ext cx="33020" cy="33020"/>
          </a:xfrm>
          <a:prstGeom prst="ellipse">
            <a:avLst/>
          </a:prstGeom>
          <a:solidFill>
            <a:srgbClr val="8A502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6942699" y="2364945"/>
            <a:ext cx="50800" cy="5080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419247" y="1983644"/>
            <a:ext cx="27940" cy="27940"/>
          </a:xfrm>
          <a:prstGeom prst="ellipse">
            <a:avLst/>
          </a:prstGeom>
          <a:solidFill>
            <a:srgbClr val="D2521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4" name="Connector 33"/>
          <p:cNvCxnSpPr/>
          <p:nvPr/>
        </p:nvCxnSpPr>
        <p:spPr>
          <a:xfrm flipV="1">
            <a:off x="2433580" y="4815638"/>
            <a:ext cx="227761" cy="33951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or 34"/>
          <p:cNvCxnSpPr/>
          <p:nvPr/>
        </p:nvCxnSpPr>
        <p:spPr>
          <a:xfrm flipH="1" flipV="1">
            <a:off x="2435431" y="4593025"/>
            <a:ext cx="656958" cy="233905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 flipH="1">
            <a:off x="3198262" y="6053950"/>
            <a:ext cx="1430935" cy="30892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or 36"/>
          <p:cNvCxnSpPr/>
          <p:nvPr/>
        </p:nvCxnSpPr>
        <p:spPr>
          <a:xfrm flipH="1">
            <a:off x="1232182" y="6202572"/>
            <a:ext cx="746019" cy="1417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or 37"/>
          <p:cNvCxnSpPr/>
          <p:nvPr/>
        </p:nvCxnSpPr>
        <p:spPr>
          <a:xfrm flipV="1">
            <a:off x="1978201" y="5165782"/>
            <a:ext cx="347493" cy="103679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9" name="Connector 38"/>
          <p:cNvCxnSpPr/>
          <p:nvPr/>
        </p:nvCxnSpPr>
        <p:spPr>
          <a:xfrm>
            <a:off x="712627" y="6025430"/>
            <a:ext cx="519555" cy="19131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0" name="Oval 39"/>
          <p:cNvSpPr/>
          <p:nvPr/>
        </p:nvSpPr>
        <p:spPr>
          <a:xfrm>
            <a:off x="2433580" y="5155154"/>
            <a:ext cx="63500" cy="6350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3092389" y="4826930"/>
            <a:ext cx="63500" cy="6350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4629197" y="6053950"/>
            <a:ext cx="63500" cy="63500"/>
          </a:xfrm>
          <a:prstGeom prst="ellipse">
            <a:avLst/>
          </a:prstGeom>
          <a:solidFill>
            <a:srgbClr val="FF8A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978201" y="6202572"/>
            <a:ext cx="63500" cy="6350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712627" y="6025430"/>
            <a:ext cx="50800" cy="50800"/>
          </a:xfrm>
          <a:prstGeom prst="ellipse">
            <a:avLst/>
          </a:prstGeom>
          <a:solidFill>
            <a:srgbClr val="8A50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3198262" y="6362870"/>
            <a:ext cx="50800" cy="5080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2661341" y="4815638"/>
            <a:ext cx="40640" cy="4064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435431" y="4593025"/>
            <a:ext cx="50800" cy="5080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25694" y="5165782"/>
            <a:ext cx="27940" cy="2794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1232182" y="6216744"/>
            <a:ext cx="50800" cy="5080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50" name="Picture 49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41367" y="1783080"/>
            <a:ext cx="3108960" cy="692063"/>
          </a:xfrm>
          <a:prstGeom prst="rect">
            <a:avLst/>
          </a:prstGeom>
        </p:spPr>
      </p:pic>
      <p:sp>
        <p:nvSpPr>
          <p:cNvPr id="51" name="TextBox 50"/>
          <p:cNvSpPr txBox="1"/>
          <p:nvPr/>
        </p:nvSpPr>
        <p:spPr>
          <a:xfrm>
            <a:off x="914400" y="356616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7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그래프 네이티브 로컬 AI — 프로그램 · 브라우저 · OS</a:t>
            </a:r>
          </a:p>
        </p:txBody>
      </p:sp>
      <p:sp>
        <p:nvSpPr>
          <p:cNvPr id="52" name="Rectangle 51"/>
          <p:cNvSpPr/>
          <p:nvPr/>
        </p:nvSpPr>
        <p:spPr>
          <a:xfrm>
            <a:off x="5227167" y="4114800"/>
            <a:ext cx="173736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914400" y="4315968"/>
            <a:ext cx="10362895" cy="5943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환각하지 않고, GPU 없이, 출처를 증명하며 답하는 AI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914400" y="5870448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피치덱 · 2026.07 — 김안석 · 넥스트챌린지스쿨</a:t>
            </a:r>
          </a:p>
        </p:txBody>
      </p:sp>
      <p:sp>
        <p:nvSpPr>
          <p:cNvPr id="55" name="Oval 54"/>
          <p:cNvSpPr/>
          <p:nvPr/>
        </p:nvSpPr>
        <p:spPr>
          <a:xfrm>
            <a:off x="5116296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00 — 시작한 질문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62600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870884" y="4566715"/>
            <a:ext cx="34619" cy="314605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1225879" y="5927129"/>
            <a:ext cx="503232" cy="264755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10905503" y="4881320"/>
            <a:ext cx="193414" cy="20420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H="1" flipV="1">
            <a:off x="11480993" y="4898668"/>
            <a:ext cx="335153" cy="15181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 flipH="1">
            <a:off x="11098917" y="5050478"/>
            <a:ext cx="717229" cy="3504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H="1">
            <a:off x="11480993" y="3920499"/>
            <a:ext cx="296152" cy="97816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1098917" y="4898668"/>
            <a:ext cx="382076" cy="18685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7" name="Oval 26"/>
          <p:cNvSpPr/>
          <p:nvPr/>
        </p:nvSpPr>
        <p:spPr>
          <a:xfrm>
            <a:off x="10870884" y="4566715"/>
            <a:ext cx="63500" cy="6350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1225879" y="6191884"/>
            <a:ext cx="40640" cy="4064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0905503" y="4881320"/>
            <a:ext cx="82550" cy="825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442110" y="4231799"/>
            <a:ext cx="40640" cy="40640"/>
          </a:xfrm>
          <a:prstGeom prst="ellipse">
            <a:avLst/>
          </a:prstGeom>
          <a:solidFill>
            <a:srgbClr val="FF8A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9386901" y="3586421"/>
            <a:ext cx="50800" cy="50800"/>
          </a:xfrm>
          <a:prstGeom prst="ellipse">
            <a:avLst/>
          </a:prstGeom>
          <a:solidFill>
            <a:srgbClr val="8A502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1816146" y="5050478"/>
            <a:ext cx="27940" cy="27940"/>
          </a:xfrm>
          <a:prstGeom prst="ellipse">
            <a:avLst/>
          </a:prstGeom>
          <a:solidFill>
            <a:srgbClr val="D2521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1777145" y="3920499"/>
            <a:ext cx="33020" cy="3302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098917" y="5085522"/>
            <a:ext cx="27940" cy="2794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80993" y="4898668"/>
            <a:ext cx="40640" cy="4064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1729111" y="5927129"/>
            <a:ext cx="63500" cy="63500"/>
          </a:xfrm>
          <a:prstGeom prst="ellipse">
            <a:avLst/>
          </a:prstGeom>
          <a:solidFill>
            <a:srgbClr val="FF9F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1188720"/>
            <a:ext cx="36576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이 프로젝트가 시작된 곳</a:t>
            </a:r>
          </a:p>
        </p:txBody>
      </p:sp>
      <p:sp>
        <p:nvSpPr>
          <p:cNvPr id="38" name="Rectangle 37"/>
          <p:cNvSpPr/>
          <p:nvPr/>
        </p:nvSpPr>
        <p:spPr>
          <a:xfrm>
            <a:off x="502920" y="1078992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Rectangle 38"/>
          <p:cNvSpPr/>
          <p:nvPr/>
        </p:nvSpPr>
        <p:spPr>
          <a:xfrm>
            <a:off x="502920" y="1691640"/>
            <a:ext cx="10682935" cy="141732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502920" y="1691640"/>
            <a:ext cx="10682935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77240" y="1874519"/>
            <a:ext cx="101800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“지금의 AI는 왜 이렇게 비효율적인가?”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2542032"/>
            <a:ext cx="101800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질문 하나에 데이터센터 GPU가 수백 W를 태우고, 같은 질문에 매번 처음부터 다시 생각한다.</a:t>
            </a:r>
          </a:p>
        </p:txBody>
      </p:sp>
      <p:sp>
        <p:nvSpPr>
          <p:cNvPr id="43" name="Rectangle 42"/>
          <p:cNvSpPr/>
          <p:nvPr/>
        </p:nvSpPr>
        <p:spPr>
          <a:xfrm>
            <a:off x="502920" y="3337560"/>
            <a:ext cx="10682935" cy="141732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Rectangle 43"/>
          <p:cNvSpPr/>
          <p:nvPr/>
        </p:nvSpPr>
        <p:spPr>
          <a:xfrm>
            <a:off x="502920" y="3337560"/>
            <a:ext cx="10682935" cy="38100"/>
          </a:xfrm>
          <a:prstGeom prst="rect">
            <a:avLst/>
          </a:prstGeom>
          <a:gradFill>
            <a:gsLst>
              <a:gs pos="0">
                <a:srgbClr val="FF8A00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77240" y="3520440"/>
            <a:ext cx="10180015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7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“ChatGPT-5.5급 AI를, 내 PC에서 직접 만들 수는 없을까?”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77240" y="4187952"/>
            <a:ext cx="101800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모델을 빌리는 대신 — 지식·기억·추론·표현을 분리한 구조를 밑바닥부터.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5257800"/>
            <a:ext cx="11185855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0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그 두 질문의 답이, </a:t>
            </a:r>
            <a:r>
              <a:rPr sz="20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ATANOR</a:t>
            </a:r>
            <a:r>
              <a:rPr sz="20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01 — 문제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08904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문제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우리는 AI를 소유하지 못하고, 빌려 쓴다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중앙 클라우드 LLM 구조에는 갚을 수 없는 네 가지 청구서가 따라온다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88920"/>
            <a:ext cx="2693593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788920"/>
            <a:ext cx="2693593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85800" y="3017520"/>
            <a:ext cx="23278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환각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85800" y="379476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출처를 증명 못 하는 답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85800" y="434340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의료 · 법률 · 금융에 치명적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333673" y="2788920"/>
            <a:ext cx="2693593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333673" y="2788920"/>
            <a:ext cx="2693593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3516553" y="3017520"/>
            <a:ext cx="23278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유출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516553" y="379476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내 기억이 남의 서버로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3516553" y="434340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데이터 주권의 상실</a:t>
            </a:r>
          </a:p>
        </p:txBody>
      </p:sp>
      <p:sp>
        <p:nvSpPr>
          <p:cNvPr id="34" name="Rectangle 33"/>
          <p:cNvSpPr/>
          <p:nvPr/>
        </p:nvSpPr>
        <p:spPr>
          <a:xfrm>
            <a:off x="6164427" y="2788920"/>
            <a:ext cx="2693593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6164427" y="2788920"/>
            <a:ext cx="2693593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6347307" y="3017520"/>
            <a:ext cx="23278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GPU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347307" y="379476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질문마다 수백 W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347307" y="434340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개인이 평생 못 돌리는 비용</a:t>
            </a:r>
          </a:p>
        </p:txBody>
      </p:sp>
      <p:sp>
        <p:nvSpPr>
          <p:cNvPr id="39" name="Rectangle 38"/>
          <p:cNvSpPr/>
          <p:nvPr/>
        </p:nvSpPr>
        <p:spPr>
          <a:xfrm>
            <a:off x="8995181" y="2788920"/>
            <a:ext cx="2693593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Rectangle 39"/>
          <p:cNvSpPr/>
          <p:nvPr/>
        </p:nvSpPr>
        <p:spPr>
          <a:xfrm>
            <a:off x="8995181" y="2788920"/>
            <a:ext cx="2693593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9178061" y="3017520"/>
            <a:ext cx="2327833" cy="7315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34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망각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78061" y="379476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3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대화가 끝나면 잊는다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9178061" y="4343400"/>
            <a:ext cx="232783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0000"/>
              </a:lnSpc>
            </a:pPr>
            <a:r>
              <a:rPr sz="105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자라나는 AI 구조의 부재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502920" y="534924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8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이건 ‘더 큰 모델’이 아니라, </a:t>
            </a:r>
            <a:r>
              <a:rPr sz="18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‘다른 구조’</a:t>
            </a:r>
            <a:r>
              <a:rPr sz="18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로 풀리는 문제다.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02 — 해법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55208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>
            <a:off x="10302454" y="3818365"/>
            <a:ext cx="462950" cy="880395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V="1">
            <a:off x="10668230" y="4698760"/>
            <a:ext cx="97174" cy="836131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0989872" y="3639743"/>
            <a:ext cx="825063" cy="410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10302454" y="3818365"/>
            <a:ext cx="82550" cy="8255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1588762" y="4701222"/>
            <a:ext cx="27940" cy="27940"/>
          </a:xfrm>
          <a:prstGeom prst="ellipse">
            <a:avLst/>
          </a:prstGeom>
          <a:solidFill>
            <a:srgbClr val="2A303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0668230" y="5534891"/>
            <a:ext cx="82550" cy="82550"/>
          </a:xfrm>
          <a:prstGeom prst="ellipse">
            <a:avLst/>
          </a:prstGeom>
          <a:solidFill>
            <a:srgbClr val="D2521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271845" y="4365460"/>
            <a:ext cx="33020" cy="3302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1870935" y="4332108"/>
            <a:ext cx="40640" cy="4064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0765404" y="4698760"/>
            <a:ext cx="33020" cy="3302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814935" y="3639743"/>
            <a:ext cx="33020" cy="3302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0989872" y="3643851"/>
            <a:ext cx="27940" cy="2794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해법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뼈와 살 — 그리고 정직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지식(뼈)은 그래프에, 말(살)은 검증된 문장에서 — 사실과 표현이 분리되어 오염되지 않는다</a:t>
            </a:r>
          </a:p>
        </p:txBody>
      </p:sp>
      <p:sp>
        <p:nvSpPr>
          <p:cNvPr id="35" name="Oval 34"/>
          <p:cNvSpPr/>
          <p:nvPr/>
        </p:nvSpPr>
        <p:spPr>
          <a:xfrm>
            <a:off x="502920" y="296265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58952" y="288036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답한다, 그러나 지어내지 않는다 — 근거가 없으면 ‘모른다’가 정답</a:t>
            </a:r>
          </a:p>
        </p:txBody>
      </p:sp>
      <p:sp>
        <p:nvSpPr>
          <p:cNvPr id="37" name="Oval 36"/>
          <p:cNvSpPr/>
          <p:nvPr/>
        </p:nvSpPr>
        <p:spPr>
          <a:xfrm>
            <a:off x="502920" y="3493008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758952" y="3410712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모든 답에 추론 증명서(근거 개념 · 도출 경로 · 보증) 부착 → 감사 가능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4023360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3941064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후보 ↔ 검증 분리 — 새 지식은 게이트(출처·중복·모순·품질)를 통과해야 승격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" y="4553712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4471416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아이가 다섯 살까지 듣는 말로 언어를 깨치듯 — 순도 높은 15만 문장 식단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5084064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001768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개인 기억은 기기 밖으로 절대 나가지 않는다 (로컬-first)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2920" y="5532120"/>
            <a:ext cx="6583680" cy="658368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502920" y="5532120"/>
            <a:ext cx="6583680" cy="38100"/>
          </a:xfrm>
          <a:prstGeom prst="rect">
            <a:avLst/>
          </a:prstGeom>
          <a:gradFill>
            <a:gsLst>
              <a:gs pos="0">
                <a:srgbClr val="FF8A00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777240" y="5669280"/>
            <a:ext cx="62179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9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“진실이 커버리지보다 먼저다.”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03 — 제품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01512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제품 · 2026.07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스스로 배우고, 스스로 지키며 돈다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구상이 아니라 — 사람이 자리를 비워도 스스로를 지키며 달리는 시스템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24h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자율 학습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위키·웹 검증 파이프 · 시간당 ~1,500문장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1538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1538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15분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1538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품질 파수꾼 주기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1538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회귀 감지 → 학습 자동 동결 → 자동 복구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0156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0156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8/10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0156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프런티어 추론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0156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은유 해석 · 반사실 · 유추 · 모순 감지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49743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48920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갭 자동 시딩 — 모르는 개념을 만나면 스스로 학습 대기열에 올린다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" y="5376672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5294376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연속 자아 · 호르몬 동역학 · 밤의 의회 — 파티클 아바타 ‘아토’ · 실시간 OPS 대시보드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" y="5806440"/>
            <a:ext cx="105156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목표는 챗봇이 아니라 — </a:t>
            </a:r>
            <a:r>
              <a:rPr sz="16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프로그램 안에 사는 정직한 생명체.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04 — 측정된 사실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47816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측정된 사실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마케팅이 아니라, 코드로 재현되는 숫자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65문항 완성 게이트 배터리 · 봉인 홀드아웃 · 92,639 LOC · 커밋 979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69748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78892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완성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61188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배터리 판정 (65문항)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393192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P0 23/23 · P1 31/32 · p50 ~2초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1538" y="269748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1538" y="278892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92%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1538" y="361188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봉인 홀드아웃 QA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1538" y="393192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날조(근거 없는 단정) 0건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0156" y="269748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0156" y="278892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94%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0156" y="361188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정직성 배터리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0156" y="393192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모르는 걸 아는 척하지 않는가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416552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507992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2,600만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02920" y="5330952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지식 그래프 트리플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502920" y="5650992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적재 96만 행/s · 터보 3.0M 행/s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31538" y="4416552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231538" y="4507992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0 GPU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31538" y="5330952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답변 시 모델 추론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31538" y="5650992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~0.001 Wh/질문 · 설치 ~11 MB</a:t>
            </a:r>
          </a:p>
        </p:txBody>
      </p:sp>
      <p:sp>
        <p:nvSpPr>
          <p:cNvPr id="44" name="Rectangle 43"/>
          <p:cNvSpPr/>
          <p:nvPr/>
        </p:nvSpPr>
        <p:spPr>
          <a:xfrm>
            <a:off x="7960156" y="4416552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TextBox 44"/>
          <p:cNvSpPr txBox="1"/>
          <p:nvPr/>
        </p:nvSpPr>
        <p:spPr>
          <a:xfrm>
            <a:off x="7960156" y="4507992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0.25초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7960156" y="5330952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전 그래프 VRAM 미러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7960156" y="5650992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606MB · 64차원 임베딩 자체 훈련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943600"/>
            <a:ext cx="1118585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정직한 한계: 커버리지는 LLM보다 좁고 장문 창작은 아직 얕다(식단 축적 중) — 숨긴 결함이 아니라 설계상 트레이드오프.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05 — 3박자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5994120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장기 비전 Ⅰ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하나의 그래프 뇌가, 세 겹의 몸을 입는다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LLM은 클라우드에서 아래로 — ATANOR는 기기에서 위로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34640"/>
            <a:ext cx="3576218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502920" y="2834640"/>
            <a:ext cx="3576218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31520" y="3035808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① 프로그램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31520" y="3566160"/>
            <a:ext cx="311901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지금 · 완성 게이트 통과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31520" y="3931920"/>
            <a:ext cx="31190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로컬 엔진+웹앱. 65문항 배터리 ‘완성’ 판정 — 실사용 수준 검증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307738" y="2834640"/>
            <a:ext cx="3576218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4307738" y="2834640"/>
            <a:ext cx="3576218" cy="38100"/>
          </a:xfrm>
          <a:prstGeom prst="rect">
            <a:avLst/>
          </a:prstGeom>
          <a:gradFill>
            <a:gsLst>
              <a:gs pos="0">
                <a:srgbClr val="FF8A00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4536338" y="3035808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② 브라우저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536338" y="3566160"/>
            <a:ext cx="311901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진행 · 확장 v0.8.3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36338" y="3931920"/>
            <a:ext cx="31190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AI가 스스로 서핑하며 페이지를 증류해 배우는 ‘인지 서핑’ → AI 브라우저</a:t>
            </a:r>
          </a:p>
        </p:txBody>
      </p:sp>
      <p:sp>
        <p:nvSpPr>
          <p:cNvPr id="34" name="Rectangle 33"/>
          <p:cNvSpPr/>
          <p:nvPr/>
        </p:nvSpPr>
        <p:spPr>
          <a:xfrm>
            <a:off x="8112556" y="2834640"/>
            <a:ext cx="3576218" cy="2148840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8112556" y="2834640"/>
            <a:ext cx="3576218" cy="38100"/>
          </a:xfrm>
          <a:prstGeom prst="rect">
            <a:avLst/>
          </a:prstGeom>
          <a:gradFill>
            <a:gsLst>
              <a:gs pos="0">
                <a:srgbClr val="FF9F1C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8341156" y="3035808"/>
            <a:ext cx="311901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1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③ OS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341156" y="3566160"/>
            <a:ext cx="311901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첫 부팅 완료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41156" y="3931920"/>
            <a:ext cx="311901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5000"/>
              </a:lnSpc>
            </a:pPr>
            <a:r>
              <a:rPr sz="11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Rust 자체 컴포지터(M1) — ATANOR Linux 부팅 실증 → 파티클 셸 OS</a:t>
            </a:r>
          </a:p>
        </p:txBody>
      </p:sp>
      <p:cxnSp>
        <p:nvCxnSpPr>
          <p:cNvPr id="39" name="Connector 38"/>
          <p:cNvCxnSpPr/>
          <p:nvPr/>
        </p:nvCxnSpPr>
        <p:spPr>
          <a:xfrm>
            <a:off x="4079138" y="3886200"/>
            <a:ext cx="228600" cy="0"/>
          </a:xfrm>
          <a:prstGeom prst="line">
            <a:avLst/>
          </a:prstGeom>
          <a:ln w="17780">
            <a:solidFill>
              <a:srgbClr val="FF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" name="Connector 39"/>
          <p:cNvCxnSpPr/>
          <p:nvPr/>
        </p:nvCxnSpPr>
        <p:spPr>
          <a:xfrm>
            <a:off x="7883956" y="3886200"/>
            <a:ext cx="228600" cy="0"/>
          </a:xfrm>
          <a:prstGeom prst="line">
            <a:avLst/>
          </a:prstGeom>
          <a:ln w="17780">
            <a:solidFill>
              <a:srgbClr val="FF8A00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" name="Oval 40"/>
          <p:cNvSpPr/>
          <p:nvPr/>
        </p:nvSpPr>
        <p:spPr>
          <a:xfrm>
            <a:off x="502920" y="534009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525780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각 층이 같은 뇌를 공유 — 배울수록 셋이 함께 똑똑해진다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5760720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5678424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개인 데이터가 앱→브라우저→OS 어디서도 밖으로 새지 않는 유일한 스택 — 구조적 해자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05+ — 피지컬 AI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0424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9507177" y="1617423"/>
            <a:ext cx="122084" cy="77058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 flipH="1" flipV="1">
            <a:off x="11348063" y="2811989"/>
            <a:ext cx="15754" cy="10618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>
            <a:off x="9507177" y="2388011"/>
            <a:ext cx="65319" cy="21280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8284003" y="2600817"/>
            <a:ext cx="1288493" cy="73789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0933459" y="2530613"/>
            <a:ext cx="50116" cy="39445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 24"/>
          <p:cNvCxnSpPr/>
          <p:nvPr/>
        </p:nvCxnSpPr>
        <p:spPr>
          <a:xfrm flipV="1">
            <a:off x="9761653" y="1016394"/>
            <a:ext cx="1032036" cy="25272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 flipV="1">
            <a:off x="10559069" y="2925063"/>
            <a:ext cx="424506" cy="73190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H="1" flipV="1">
            <a:off x="10793689" y="1016394"/>
            <a:ext cx="475236" cy="51940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H="1">
            <a:off x="10983575" y="2811989"/>
            <a:ext cx="364488" cy="11307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" name="Oval 28"/>
          <p:cNvSpPr/>
          <p:nvPr/>
        </p:nvSpPr>
        <p:spPr>
          <a:xfrm>
            <a:off x="10883728" y="2390360"/>
            <a:ext cx="33020" cy="3302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9629261" y="1617423"/>
            <a:ext cx="63500" cy="6350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363817" y="2918171"/>
            <a:ext cx="33020" cy="3302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507177" y="2388011"/>
            <a:ext cx="50800" cy="5080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8284003" y="3338715"/>
            <a:ext cx="33020" cy="3302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933459" y="2530613"/>
            <a:ext cx="27940" cy="2794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333154" y="2152899"/>
            <a:ext cx="82550" cy="8255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8707149" y="5040054"/>
            <a:ext cx="50800" cy="5080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8233583" y="1943550"/>
            <a:ext cx="82550" cy="82550"/>
          </a:xfrm>
          <a:prstGeom prst="ellipse">
            <a:avLst/>
          </a:prstGeom>
          <a:solidFill>
            <a:srgbClr val="2A303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9761653" y="1269123"/>
            <a:ext cx="82550" cy="82550"/>
          </a:xfrm>
          <a:prstGeom prst="ellipse">
            <a:avLst/>
          </a:prstGeom>
          <a:solidFill>
            <a:srgbClr val="FF9F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59069" y="3656963"/>
            <a:ext cx="33020" cy="3302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0484513" y="2143338"/>
            <a:ext cx="63500" cy="63500"/>
          </a:xfrm>
          <a:prstGeom prst="ellipse">
            <a:avLst/>
          </a:prstGeom>
          <a:solidFill>
            <a:srgbClr val="D2521F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588873" y="471526"/>
            <a:ext cx="27940" cy="2794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0227143" y="3339087"/>
            <a:ext cx="27940" cy="2794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1268925" y="1535802"/>
            <a:ext cx="33020" cy="3302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1348063" y="2811989"/>
            <a:ext cx="50800" cy="5080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0983575" y="2925063"/>
            <a:ext cx="63500" cy="6350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0793689" y="1016394"/>
            <a:ext cx="50800" cy="50800"/>
          </a:xfrm>
          <a:prstGeom prst="ellipse">
            <a:avLst/>
          </a:prstGeom>
          <a:solidFill>
            <a:srgbClr val="2A303E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9572496" y="2600817"/>
            <a:ext cx="40640" cy="40640"/>
          </a:xfrm>
          <a:prstGeom prst="ellipse">
            <a:avLst/>
          </a:prstGeom>
          <a:solidFill>
            <a:srgbClr val="FF8A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Rectangle 47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장기 비전 Ⅱ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4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잊지 않는 뇌는, 피지컬 AI의 핵심이 된다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맥락을 사람처럼 이해하고 잊지 않는 로컬 뇌 — 3박자 다음의 네 번째 몸</a:t>
            </a:r>
          </a:p>
        </p:txBody>
      </p:sp>
      <p:sp>
        <p:nvSpPr>
          <p:cNvPr id="52" name="Oval 51"/>
          <p:cNvSpPr/>
          <p:nvPr/>
        </p:nvSpPr>
        <p:spPr>
          <a:xfrm>
            <a:off x="502920" y="296265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TextBox 52"/>
          <p:cNvSpPr txBox="1"/>
          <p:nvPr/>
        </p:nvSpPr>
        <p:spPr>
          <a:xfrm>
            <a:off x="758952" y="288036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스마트 글래스 · 웨어러블 · 로봇에 연결 — 개인의 모든 맥락(본 것 · 들은 것 · 한 일)을 기기 안에서 기억</a:t>
            </a:r>
          </a:p>
        </p:txBody>
      </p:sp>
      <p:sp>
        <p:nvSpPr>
          <p:cNvPr id="54" name="Oval 53"/>
          <p:cNvSpPr/>
          <p:nvPr/>
        </p:nvSpPr>
        <p:spPr>
          <a:xfrm>
            <a:off x="502920" y="351129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TextBox 54"/>
          <p:cNvSpPr txBox="1"/>
          <p:nvPr/>
        </p:nvSpPr>
        <p:spPr>
          <a:xfrm>
            <a:off x="758952" y="342900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클라우드 왕복 없음 — 실시간성과 프라이버시를 동시에 (피지컬 AI의 필요조건)</a:t>
            </a:r>
          </a:p>
        </p:txBody>
      </p:sp>
      <p:sp>
        <p:nvSpPr>
          <p:cNvPr id="56" name="Oval 55"/>
          <p:cNvSpPr/>
          <p:nvPr/>
        </p:nvSpPr>
        <p:spPr>
          <a:xfrm>
            <a:off x="502920" y="40599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TextBox 56"/>
          <p:cNvSpPr txBox="1"/>
          <p:nvPr/>
        </p:nvSpPr>
        <p:spPr>
          <a:xfrm>
            <a:off x="758952" y="39776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기기가 바뀌어도 — 같은 뇌, 같은 자아, 같은 기억 (연속 자아 실증 완료)</a:t>
            </a:r>
          </a:p>
        </p:txBody>
      </p:sp>
      <p:sp>
        <p:nvSpPr>
          <p:cNvPr id="58" name="Oval 57"/>
          <p:cNvSpPr/>
          <p:nvPr/>
        </p:nvSpPr>
        <p:spPr>
          <a:xfrm>
            <a:off x="502920" y="460857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TextBox 58"/>
          <p:cNvSpPr txBox="1"/>
          <p:nvPr/>
        </p:nvSpPr>
        <p:spPr>
          <a:xfrm>
            <a:off x="758952" y="452628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시장이 마중 나온다 — AI 글래스 판매 2026년 한 해 4배(600만→2,000만 대 전망) · 피지컬 AI $81.6B→$960B(2033 추정)</a:t>
            </a:r>
          </a:p>
        </p:txBody>
      </p:sp>
      <p:sp>
        <p:nvSpPr>
          <p:cNvPr id="60" name="Rectangle 59"/>
          <p:cNvSpPr/>
          <p:nvPr/>
        </p:nvSpPr>
        <p:spPr>
          <a:xfrm>
            <a:off x="502920" y="5440680"/>
            <a:ext cx="9692640" cy="658368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502920" y="5440680"/>
            <a:ext cx="9692640" cy="38100"/>
          </a:xfrm>
          <a:prstGeom prst="rect">
            <a:avLst/>
          </a:prstGeom>
          <a:gradFill>
            <a:gsLst>
              <a:gs pos="0">
                <a:srgbClr val="FF8A00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777240" y="5577840"/>
            <a:ext cx="923544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클라우드 LLM은 물리 세계의 매 순간을 감당할 수 없다 — </a:t>
            </a:r>
            <a:r>
              <a:rPr sz="15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로컬 뇌만이 할 수 있다.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06 — 시장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86728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시장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틀리면 안 되고, 나가면 안 되고, 싸야 하는 곳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‘가장 똑똑한 모델’ 경쟁이 아니라 — 신뢰 세그먼트를 정조준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$11.8B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엣지/온디바이스 AI · 2025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02920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→ $56.8B (2030) · CAGR 36.9% (BCC)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231538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4231538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$960B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231538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피지컬 AI · 2033 (추정)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231538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$81.6B(2025)에서 CAGR 36.1% (Grand View)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960156" y="2880360"/>
            <a:ext cx="45720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960156" y="2971800"/>
            <a:ext cx="3408578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4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규제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960156" y="3794760"/>
            <a:ext cx="3408578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1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EU AI Act — 감사가능성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960156" y="4114800"/>
            <a:ext cx="3408578" cy="502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sz="11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‘출처를 증명하는 AI’ = 규제 대응 자산</a:t>
            </a:r>
          </a:p>
        </p:txBody>
      </p:sp>
      <p:sp>
        <p:nvSpPr>
          <p:cNvPr id="36" name="Oval 35"/>
          <p:cNvSpPr/>
          <p:nvPr/>
        </p:nvSpPr>
        <p:spPr>
          <a:xfrm>
            <a:off x="502920" y="515721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58952" y="507492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초기: 개발자·연구자 (자기 문서·코드를 장기 기억으로) → 소규모 팀 온프레미스</a:t>
            </a:r>
          </a:p>
        </p:txBody>
      </p:sp>
      <p:sp>
        <p:nvSpPr>
          <p:cNvPr id="38" name="Oval 37"/>
          <p:cNvSpPr/>
          <p:nvPr/>
        </p:nvSpPr>
        <p:spPr>
          <a:xfrm>
            <a:off x="502920" y="5596128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58952" y="5513832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확장: 금융 · 의료 · 법률 · 공공 — 환각과 유출이 허용되지 않는 산업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07 — 비즈니스 모델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33032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비즈니스 모델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COGS가 0에 수렴하는 AI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추론에 GPU가 들지 않는다 — 가격 · 마진 · 엣지 배포 전부의 구조적 우위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788920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502920" y="2971800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9808" y="2862072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개인 구독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977639" y="2871216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월 9,900–29,000원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040880" y="2889504"/>
            <a:ext cx="4647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로컬 그래프 관리 · 백그라운드 학습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392424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502920" y="3575304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49808" y="3465576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Pro (개발자·연구자)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977639" y="3474720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월 39,000–99,000원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7040880" y="3493008"/>
            <a:ext cx="4647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문서/코드 인덱싱 · 프로젝트 브레인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02920" y="3995928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502920" y="4178808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749808" y="4069080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팀/기업 온프레미스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3977639" y="4078224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구축 + 월유지 + 시트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040880" y="4096512"/>
            <a:ext cx="4647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데이터 반출 없는 사내 지식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02920" y="459943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502920" y="4782312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749808" y="4672584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Graph Cartridge 마켓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3977639" y="4681728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수수료 20–30%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040880" y="4700016"/>
            <a:ext cx="4647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도메인 그래프(법률·의료·창업) 장터</a:t>
            </a:r>
          </a:p>
        </p:txBody>
      </p:sp>
      <p:sp>
        <p:nvSpPr>
          <p:cNvPr id="44" name="Rectangle 43"/>
          <p:cNvSpPr/>
          <p:nvPr/>
        </p:nvSpPr>
        <p:spPr>
          <a:xfrm>
            <a:off x="502920" y="5202936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502920" y="538581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49808" y="5276088"/>
            <a:ext cx="301752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브라우저 → OS → 피지컬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3977639" y="5285232"/>
            <a:ext cx="292608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무료 퍼널 → 라이선스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7040880" y="5303520"/>
            <a:ext cx="4647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3박자 완성 시 기기·OS·피지컬 뇌 (장기)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02920" y="5989320"/>
            <a:ext cx="1051560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검증 순서: Pro → 온프레미스 → 카트리지 마켓 → 3박자 스택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08 — 경쟁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79336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경쟁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방향이 반대다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그들은 클라우드 모델을 아래로 내린다 — 우리는 로컬 그래프 뇌를 위로 올린다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2834640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16936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ChatGPT · Claude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886200" y="2926080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범용 추론의 정점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29400" y="2926080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로컬 지식 소유 없음 · 검증 그래프 아님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02920" y="3493008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502920" y="3575304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Perplexity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886200" y="3584448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검색 + 출처 답변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629400" y="3584448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검색 응답일 뿐 — 지식이 쌓이지 않는다</a:t>
            </a:r>
          </a:p>
        </p:txBody>
      </p:sp>
      <p:sp>
        <p:nvSpPr>
          <p:cNvPr id="32" name="Rectangle 31"/>
          <p:cNvSpPr/>
          <p:nvPr/>
        </p:nvSpPr>
        <p:spPr>
          <a:xfrm>
            <a:off x="502920" y="4151376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502920" y="4233672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로컬 LLM (Llama 등)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3886200" y="4242816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오프라인 구동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6629400" y="4242816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환각 여전 · 수 GB 가중치 — ATANOR는 0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02920" y="4809744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502920" y="4892040"/>
            <a:ext cx="3200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4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AI 브라우저 (Arc·Comet)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3886200" y="4901184"/>
            <a:ext cx="26517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브라우징 보조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629400" y="4901184"/>
            <a:ext cx="50593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클라우드 LLM을 얹음 — 우리는 로컬 뇌가 브라우저를 쓴다</a:t>
            </a:r>
          </a:p>
        </p:txBody>
      </p:sp>
      <p:sp>
        <p:nvSpPr>
          <p:cNvPr id="40" name="Rectangle 39"/>
          <p:cNvSpPr/>
          <p:nvPr/>
        </p:nvSpPr>
        <p:spPr>
          <a:xfrm>
            <a:off x="502920" y="5486400"/>
            <a:ext cx="10424160" cy="658368"/>
          </a:xfrm>
          <a:prstGeom prst="rect">
            <a:avLst/>
          </a:prstGeom>
          <a:solidFill>
            <a:srgbClr val="0D0E12"/>
          </a:solidFill>
          <a:ln w="9525">
            <a:solidFill>
              <a:srgbClr val="1D233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502920" y="5486400"/>
            <a:ext cx="1042416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77240" y="5623560"/>
            <a:ext cx="1005840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해자 = </a:t>
            </a:r>
            <a:r>
              <a:rPr sz="155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정직성 + 경량성 + 프라이버시 + 3박자 수직통합</a:t>
            </a:r>
            <a:r>
              <a:rPr sz="15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의 결합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09 — 로드맵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25640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로드맵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32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식단 완주 → 베타 → 온프레미스 → OS → 피지컬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640080" y="2761488"/>
            <a:ext cx="10911535" cy="0"/>
          </a:xfrm>
          <a:prstGeom prst="line">
            <a:avLst/>
          </a:prstGeom>
          <a:ln w="15240">
            <a:solidFill>
              <a:srgbClr val="2A303E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Oval 23"/>
          <p:cNvSpPr/>
          <p:nvPr/>
        </p:nvSpPr>
        <p:spPr>
          <a:xfrm>
            <a:off x="557784" y="2679192"/>
            <a:ext cx="114300" cy="114300"/>
          </a:xfrm>
          <a:prstGeom prst="ellipse">
            <a:avLst/>
          </a:prstGeom>
          <a:solidFill>
            <a:srgbClr val="D2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502920" y="2926080"/>
            <a:ext cx="35762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단기 · 0–6개월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02920" y="3346704"/>
            <a:ext cx="3439058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502920" y="3593592"/>
            <a:ext cx="57150" cy="57150"/>
          </a:xfrm>
          <a:prstGeom prst="ellipse">
            <a:avLst/>
          </a:prstGeom>
          <a:solidFill>
            <a:srgbClr val="D2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704088" y="3520440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문장 식단 15만 완주 → 유창성 개화</a:t>
            </a:r>
          </a:p>
        </p:txBody>
      </p:sp>
      <p:sp>
        <p:nvSpPr>
          <p:cNvPr id="29" name="Oval 28"/>
          <p:cNvSpPr/>
          <p:nvPr/>
        </p:nvSpPr>
        <p:spPr>
          <a:xfrm>
            <a:off x="502920" y="4306824"/>
            <a:ext cx="57150" cy="57150"/>
          </a:xfrm>
          <a:prstGeom prst="ellipse">
            <a:avLst/>
          </a:prstGeom>
          <a:solidFill>
            <a:srgbClr val="D2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704088" y="4233672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클로즈드 베타 100명 + 사전예약</a:t>
            </a:r>
          </a:p>
        </p:txBody>
      </p:sp>
      <p:sp>
        <p:nvSpPr>
          <p:cNvPr id="31" name="Oval 30"/>
          <p:cNvSpPr/>
          <p:nvPr/>
        </p:nvSpPr>
        <p:spPr>
          <a:xfrm>
            <a:off x="502920" y="5020056"/>
            <a:ext cx="57150" cy="57150"/>
          </a:xfrm>
          <a:prstGeom prst="ellipse">
            <a:avLst/>
          </a:prstGeom>
          <a:solidFill>
            <a:srgbClr val="D2521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704088" y="4946904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공개 벤치마크 · 에너지 백서</a:t>
            </a:r>
          </a:p>
        </p:txBody>
      </p:sp>
      <p:sp>
        <p:nvSpPr>
          <p:cNvPr id="33" name="Oval 32"/>
          <p:cNvSpPr/>
          <p:nvPr/>
        </p:nvSpPr>
        <p:spPr>
          <a:xfrm>
            <a:off x="4362602" y="2679192"/>
            <a:ext cx="114300" cy="1143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4307738" y="2926080"/>
            <a:ext cx="35762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중기 · 6–18개월</a:t>
            </a:r>
          </a:p>
        </p:txBody>
      </p:sp>
      <p:sp>
        <p:nvSpPr>
          <p:cNvPr id="35" name="Rectangle 34"/>
          <p:cNvSpPr/>
          <p:nvPr/>
        </p:nvSpPr>
        <p:spPr>
          <a:xfrm>
            <a:off x="4307738" y="3346704"/>
            <a:ext cx="3439058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4307738" y="3593592"/>
            <a:ext cx="57150" cy="5715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508906" y="3520440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온프레미스 패키지 + 카트리지</a:t>
            </a:r>
          </a:p>
        </p:txBody>
      </p:sp>
      <p:sp>
        <p:nvSpPr>
          <p:cNvPr id="38" name="Oval 37"/>
          <p:cNvSpPr/>
          <p:nvPr/>
        </p:nvSpPr>
        <p:spPr>
          <a:xfrm>
            <a:off x="4307738" y="4306824"/>
            <a:ext cx="57150" cy="5715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508906" y="4233672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브라우저 확장 정식 배포 (스토어)</a:t>
            </a:r>
          </a:p>
        </p:txBody>
      </p:sp>
      <p:sp>
        <p:nvSpPr>
          <p:cNvPr id="40" name="Oval 39"/>
          <p:cNvSpPr/>
          <p:nvPr/>
        </p:nvSpPr>
        <p:spPr>
          <a:xfrm>
            <a:off x="4307738" y="5020056"/>
            <a:ext cx="57150" cy="5715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4508906" y="4946904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특허 출원 · Atlas Network v1</a:t>
            </a:r>
          </a:p>
        </p:txBody>
      </p:sp>
      <p:sp>
        <p:nvSpPr>
          <p:cNvPr id="42" name="Oval 41"/>
          <p:cNvSpPr/>
          <p:nvPr/>
        </p:nvSpPr>
        <p:spPr>
          <a:xfrm>
            <a:off x="8167420" y="2679192"/>
            <a:ext cx="114300" cy="11430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8112556" y="2926080"/>
            <a:ext cx="3576218" cy="411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65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장기 · 18개월+</a:t>
            </a:r>
          </a:p>
        </p:txBody>
      </p:sp>
      <p:sp>
        <p:nvSpPr>
          <p:cNvPr id="44" name="Rectangle 43"/>
          <p:cNvSpPr/>
          <p:nvPr/>
        </p:nvSpPr>
        <p:spPr>
          <a:xfrm>
            <a:off x="8112556" y="3346704"/>
            <a:ext cx="3439058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8112556" y="3593592"/>
            <a:ext cx="57150" cy="5715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8313724" y="3520440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ATANOR OS — 디바이스 연속성</a:t>
            </a:r>
          </a:p>
        </p:txBody>
      </p:sp>
      <p:sp>
        <p:nvSpPr>
          <p:cNvPr id="47" name="Oval 46"/>
          <p:cNvSpPr/>
          <p:nvPr/>
        </p:nvSpPr>
        <p:spPr>
          <a:xfrm>
            <a:off x="8112556" y="4306824"/>
            <a:ext cx="57150" cy="5715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8313724" y="4233672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피지컬 AI 뇌 (글래스·웨어러블)</a:t>
            </a:r>
          </a:p>
        </p:txBody>
      </p:sp>
      <p:sp>
        <p:nvSpPr>
          <p:cNvPr id="49" name="Oval 48"/>
          <p:cNvSpPr/>
          <p:nvPr/>
        </p:nvSpPr>
        <p:spPr>
          <a:xfrm>
            <a:off x="8112556" y="5020056"/>
            <a:ext cx="57150" cy="57150"/>
          </a:xfrm>
          <a:prstGeom prst="ellipse">
            <a:avLst/>
          </a:prstGeom>
          <a:solidFill>
            <a:srgbClr val="FF9F1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8313724" y="4946904"/>
            <a:ext cx="3301898" cy="6858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12000"/>
              </a:lnSpc>
            </a:pPr>
            <a:r>
              <a:rPr sz="12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'믿을 수 있는 답'의 표준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84048"/>
            <a:ext cx="1232330" cy="27432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488375" y="384048"/>
            <a:ext cx="320040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r">
              <a:lnSpc>
                <a:spcPct val="100000"/>
              </a:lnSpc>
            </a:pPr>
            <a:r>
              <a:rPr sz="1200" b="1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10 — 팀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6291072"/>
            <a:ext cx="11185855" cy="12700"/>
          </a:xfrm>
          <a:prstGeom prst="rect">
            <a:avLst/>
          </a:prstGeom>
          <a:solidFill>
            <a:srgbClr val="1D233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6355080"/>
            <a:ext cx="7315200" cy="2743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9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ATANOR · 2026.07 — 수치는 자체 실측, 커밋 단위 재현</a:t>
            </a:r>
          </a:p>
        </p:txBody>
      </p:sp>
      <p:sp>
        <p:nvSpPr>
          <p:cNvPr id="6" name="Oval 5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6871944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702777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0" name="Connector 19"/>
          <p:cNvCxnSpPr/>
          <p:nvPr/>
        </p:nvCxnSpPr>
        <p:spPr>
          <a:xfrm flipH="1">
            <a:off x="10218964" y="4828530"/>
            <a:ext cx="30039" cy="157054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Connector 20"/>
          <p:cNvCxnSpPr/>
          <p:nvPr/>
        </p:nvCxnSpPr>
        <p:spPr>
          <a:xfrm>
            <a:off x="11354010" y="4529587"/>
            <a:ext cx="354321" cy="49443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 21"/>
          <p:cNvCxnSpPr/>
          <p:nvPr/>
        </p:nvCxnSpPr>
        <p:spPr>
          <a:xfrm flipH="1">
            <a:off x="11393630" y="5510507"/>
            <a:ext cx="288826" cy="20356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Connector 22"/>
          <p:cNvCxnSpPr/>
          <p:nvPr/>
        </p:nvCxnSpPr>
        <p:spPr>
          <a:xfrm flipV="1">
            <a:off x="11682456" y="5024025"/>
            <a:ext cx="25875" cy="486482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Connector 23"/>
          <p:cNvCxnSpPr/>
          <p:nvPr/>
        </p:nvCxnSpPr>
        <p:spPr>
          <a:xfrm>
            <a:off x="11093115" y="5699193"/>
            <a:ext cx="300515" cy="1487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5" name="Oval 24"/>
          <p:cNvSpPr/>
          <p:nvPr/>
        </p:nvSpPr>
        <p:spPr>
          <a:xfrm>
            <a:off x="10249003" y="4828530"/>
            <a:ext cx="50800" cy="5080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1354010" y="4529587"/>
            <a:ext cx="40640" cy="4064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0218964" y="4985584"/>
            <a:ext cx="50800" cy="5080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9056937" y="6029224"/>
            <a:ext cx="82550" cy="82550"/>
          </a:xfrm>
          <a:prstGeom prst="ellipse">
            <a:avLst/>
          </a:prstGeom>
          <a:solidFill>
            <a:srgbClr val="FF9F1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1682456" y="5510507"/>
            <a:ext cx="40640" cy="40640"/>
          </a:xfrm>
          <a:prstGeom prst="ellipse">
            <a:avLst/>
          </a:prstGeom>
          <a:solidFill>
            <a:srgbClr val="FF8A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1093115" y="5699193"/>
            <a:ext cx="27940" cy="27940"/>
          </a:xfrm>
          <a:prstGeom prst="ellipse">
            <a:avLst/>
          </a:prstGeom>
          <a:solidFill>
            <a:srgbClr val="8A5028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1708331" y="5024025"/>
            <a:ext cx="33020" cy="3302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0303770" y="4551055"/>
            <a:ext cx="50800" cy="50800"/>
          </a:xfrm>
          <a:prstGeom prst="ellipse">
            <a:avLst/>
          </a:prstGeom>
          <a:solidFill>
            <a:srgbClr val="FF9F1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863028" y="4238701"/>
            <a:ext cx="40640" cy="40640"/>
          </a:xfrm>
          <a:prstGeom prst="ellipse">
            <a:avLst/>
          </a:prstGeom>
          <a:solidFill>
            <a:srgbClr val="FF8A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1393630" y="5714069"/>
            <a:ext cx="27940" cy="2794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Rectangle 34"/>
          <p:cNvSpPr/>
          <p:nvPr/>
        </p:nvSpPr>
        <p:spPr>
          <a:xfrm>
            <a:off x="502920" y="1042415"/>
            <a:ext cx="566928" cy="4445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02920" y="1152144"/>
            <a:ext cx="3291840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1">
                <a:solidFill>
                  <a:srgbClr val="FF8A00"/>
                </a:solidFill>
                <a:latin typeface="Helvetica World"/>
                <a:ea typeface="Helvetica World"/>
                <a:cs typeface="Helvetica World"/>
              </a:rPr>
              <a:t>팀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02920" y="1463040"/>
            <a:ext cx="11185855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2000"/>
              </a:lnSpc>
            </a:pPr>
            <a:r>
              <a:rPr sz="40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김안석 — 단독 창업자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1207" y="2286000"/>
            <a:ext cx="110944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넥스트챌린지스쿨 (서울시교육청 인가 · 국내 첫 창업 특화 대안고) — Google · Intel · Thales 협력</a:t>
            </a:r>
          </a:p>
        </p:txBody>
      </p:sp>
      <p:sp>
        <p:nvSpPr>
          <p:cNvPr id="39" name="Oval 38"/>
          <p:cNvSpPr/>
          <p:nvPr/>
        </p:nvSpPr>
        <p:spPr>
          <a:xfrm>
            <a:off x="502920" y="29169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58952" y="28346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시나브로 (문학인 SNS) — 학생창업유망팀 U300+ 도약트랙 최종선발</a:t>
            </a:r>
          </a:p>
        </p:txBody>
      </p:sp>
      <p:sp>
        <p:nvSpPr>
          <p:cNvPr id="41" name="Oval 40"/>
          <p:cNvSpPr/>
          <p:nvPr/>
        </p:nvSpPr>
        <p:spPr>
          <a:xfrm>
            <a:off x="502920" y="33741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758952" y="32918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WETHUS (학생 창업 플랫폼) — ‘모두의 창업’ 1차 심사 통과</a:t>
            </a:r>
          </a:p>
        </p:txBody>
      </p:sp>
      <p:sp>
        <p:nvSpPr>
          <p:cNvPr id="43" name="Oval 42"/>
          <p:cNvSpPr/>
          <p:nvPr/>
        </p:nvSpPr>
        <p:spPr>
          <a:xfrm>
            <a:off x="502920" y="38313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758952" y="37490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BELIFE (개인 인텔리전스) — 생각 · 감정 · 가치관 구조화 실험</a:t>
            </a:r>
          </a:p>
        </p:txBody>
      </p:sp>
      <p:sp>
        <p:nvSpPr>
          <p:cNvPr id="45" name="Oval 44"/>
          <p:cNvSpPr/>
          <p:nvPr/>
        </p:nvSpPr>
        <p:spPr>
          <a:xfrm>
            <a:off x="502920" y="4288536"/>
            <a:ext cx="63500" cy="63500"/>
          </a:xfrm>
          <a:prstGeom prst="ellipse">
            <a:avLst/>
          </a:prstGeom>
          <a:solidFill>
            <a:srgbClr val="FF8A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758952" y="4206240"/>
            <a:ext cx="10929823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5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본 프로젝트 실측 — 6개월 · 커밋 979 · 92,639 LOC · 78패키지 · 테스트 606 (그래프 스토어→형태소 엔진→Rust OS까지 단독)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502920" y="4892040"/>
            <a:ext cx="1118585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22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“이 사람들의 생각과 기억은, 결국 누구의 것인가.”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502920" y="5623560"/>
            <a:ext cx="1118585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3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고등학생이지만 — 아이디어가 아니라 측정 가능한 사실까지 만들어내는 실행력.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50506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894216" y="5028412"/>
            <a:ext cx="558614" cy="10859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3751312" y="4980173"/>
            <a:ext cx="6643" cy="48171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" name="Connector 3"/>
          <p:cNvCxnSpPr/>
          <p:nvPr/>
        </p:nvCxnSpPr>
        <p:spPr>
          <a:xfrm flipH="1" flipV="1">
            <a:off x="1943112" y="5566837"/>
            <a:ext cx="222620" cy="32834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" name="Connector 4"/>
          <p:cNvCxnSpPr/>
          <p:nvPr/>
        </p:nvCxnSpPr>
        <p:spPr>
          <a:xfrm>
            <a:off x="2165732" y="5895186"/>
            <a:ext cx="896048" cy="668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 flipV="1">
            <a:off x="455834" y="5137002"/>
            <a:ext cx="996996" cy="86354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" name="Connector 6"/>
          <p:cNvCxnSpPr/>
          <p:nvPr/>
        </p:nvCxnSpPr>
        <p:spPr>
          <a:xfrm flipH="1">
            <a:off x="4210847" y="5094906"/>
            <a:ext cx="1714590" cy="36063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 flipH="1" flipV="1">
            <a:off x="3061780" y="5901866"/>
            <a:ext cx="177243" cy="792511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 flipV="1">
            <a:off x="170375" y="3725656"/>
            <a:ext cx="726985" cy="117556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 flipH="1">
            <a:off x="164569" y="3843212"/>
            <a:ext cx="732791" cy="82007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94216" y="5028412"/>
            <a:ext cx="63500" cy="63500"/>
          </a:xfrm>
          <a:prstGeom prst="ellipse">
            <a:avLst/>
          </a:prstGeom>
          <a:solidFill>
            <a:srgbClr val="2A303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751312" y="5461891"/>
            <a:ext cx="63500" cy="63500"/>
          </a:xfrm>
          <a:prstGeom prst="ellipse">
            <a:avLst/>
          </a:prstGeom>
          <a:solidFill>
            <a:srgbClr val="FF9F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2165732" y="5895186"/>
            <a:ext cx="27940" cy="2794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455834" y="6000548"/>
            <a:ext cx="50800" cy="5080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3341130" y="5140612"/>
            <a:ext cx="40640" cy="4064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5925437" y="5094906"/>
            <a:ext cx="82550" cy="8255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1943112" y="5566837"/>
            <a:ext cx="33020" cy="3302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3239023" y="6694377"/>
            <a:ext cx="50800" cy="5080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3757955" y="4980173"/>
            <a:ext cx="50800" cy="5080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1452830" y="5137002"/>
            <a:ext cx="82550" cy="8255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4210847" y="5455542"/>
            <a:ext cx="63500" cy="6350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97360" y="3843212"/>
            <a:ext cx="40640" cy="40640"/>
          </a:xfrm>
          <a:prstGeom prst="ellipse">
            <a:avLst/>
          </a:prstGeom>
          <a:solidFill>
            <a:srgbClr val="2A303E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164569" y="4663290"/>
            <a:ext cx="40640" cy="40640"/>
          </a:xfrm>
          <a:prstGeom prst="ellipse">
            <a:avLst/>
          </a:prstGeom>
          <a:solidFill>
            <a:srgbClr val="8A5028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170375" y="3725656"/>
            <a:ext cx="82550" cy="82550"/>
          </a:xfrm>
          <a:prstGeom prst="ellipse">
            <a:avLst/>
          </a:prstGeom>
          <a:solidFill>
            <a:srgbClr val="FF8A00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3061780" y="5901866"/>
            <a:ext cx="63500" cy="63500"/>
          </a:xfrm>
          <a:prstGeom prst="ellipse">
            <a:avLst/>
          </a:prstGeom>
          <a:solidFill>
            <a:srgbClr val="FF9F1C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26" name="Connector 25"/>
          <p:cNvCxnSpPr/>
          <p:nvPr/>
        </p:nvCxnSpPr>
        <p:spPr>
          <a:xfrm flipH="1">
            <a:off x="8526188" y="2333302"/>
            <a:ext cx="504714" cy="760060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 flipV="1">
            <a:off x="9030902" y="1355211"/>
            <a:ext cx="135971" cy="978091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 flipV="1">
            <a:off x="10543479" y="2253172"/>
            <a:ext cx="101685" cy="67773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 flipH="1">
            <a:off x="9166873" y="1174693"/>
            <a:ext cx="854074" cy="180518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 flipH="1" flipV="1">
            <a:off x="10522001" y="2112213"/>
            <a:ext cx="123163" cy="140959"/>
          </a:xfrm>
          <a:prstGeom prst="line">
            <a:avLst/>
          </a:prstGeom>
          <a:ln w="7620">
            <a:solidFill>
              <a:srgbClr val="2A303E">
                <a:alpha val="55000"/>
              </a:srgbClr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1" name="Oval 30"/>
          <p:cNvSpPr/>
          <p:nvPr/>
        </p:nvSpPr>
        <p:spPr>
          <a:xfrm>
            <a:off x="10866960" y="1585452"/>
            <a:ext cx="82550" cy="82550"/>
          </a:xfrm>
          <a:prstGeom prst="ellipse">
            <a:avLst/>
          </a:prstGeom>
          <a:solidFill>
            <a:srgbClr val="FF8A00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9030902" y="2333302"/>
            <a:ext cx="27940" cy="27940"/>
          </a:xfrm>
          <a:prstGeom prst="ellipse">
            <a:avLst/>
          </a:prstGeom>
          <a:solidFill>
            <a:srgbClr val="FF9F1C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0677730" y="1862077"/>
            <a:ext cx="40640" cy="40640"/>
          </a:xfrm>
          <a:prstGeom prst="ellipse">
            <a:avLst/>
          </a:prstGeom>
          <a:solidFill>
            <a:srgbClr val="FF9F1C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0543479" y="2930910"/>
            <a:ext cx="50800" cy="50800"/>
          </a:xfrm>
          <a:prstGeom prst="ellipse">
            <a:avLst/>
          </a:prstGeom>
          <a:solidFill>
            <a:srgbClr val="FF9F1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1416019" y="2635197"/>
            <a:ext cx="82550" cy="82550"/>
          </a:xfrm>
          <a:prstGeom prst="ellipse">
            <a:avLst/>
          </a:prstGeom>
          <a:solidFill>
            <a:srgbClr val="D2521F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0020947" y="1174693"/>
            <a:ext cx="33020" cy="3302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9166873" y="1355211"/>
            <a:ext cx="27940" cy="27940"/>
          </a:xfrm>
          <a:prstGeom prst="ellipse">
            <a:avLst/>
          </a:prstGeom>
          <a:solidFill>
            <a:srgbClr val="FF8A00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7197651" y="2993935"/>
            <a:ext cx="27940" cy="27940"/>
          </a:xfrm>
          <a:prstGeom prst="ellipse">
            <a:avLst/>
          </a:prstGeom>
          <a:solidFill>
            <a:srgbClr val="8A5028">
              <a:alpha val="7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0518297" y="1646673"/>
            <a:ext cx="82550" cy="82550"/>
          </a:xfrm>
          <a:prstGeom prst="ellipse">
            <a:avLst/>
          </a:prstGeom>
          <a:solidFill>
            <a:srgbClr val="D2521F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1368375" y="1245828"/>
            <a:ext cx="40640" cy="40640"/>
          </a:xfrm>
          <a:prstGeom prst="ellipse">
            <a:avLst/>
          </a:prstGeom>
          <a:solidFill>
            <a:srgbClr val="FF9F1C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0645164" y="2253172"/>
            <a:ext cx="27940" cy="27940"/>
          </a:xfrm>
          <a:prstGeom prst="ellipse">
            <a:avLst/>
          </a:prstGeom>
          <a:solidFill>
            <a:srgbClr val="2A303E">
              <a:alpha val="8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8526188" y="3093362"/>
            <a:ext cx="40640" cy="40640"/>
          </a:xfrm>
          <a:prstGeom prst="ellipse">
            <a:avLst/>
          </a:prstGeom>
          <a:solidFill>
            <a:srgbClr val="2A303E">
              <a:alpha val="55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0522001" y="2112213"/>
            <a:ext cx="27940" cy="27940"/>
          </a:xfrm>
          <a:prstGeom prst="ellipse">
            <a:avLst/>
          </a:prstGeom>
          <a:solidFill>
            <a:srgbClr val="8A5028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9143065" y="1027560"/>
            <a:ext cx="40640" cy="40640"/>
          </a:xfrm>
          <a:prstGeom prst="ellipse">
            <a:avLst/>
          </a:prstGeom>
          <a:solidFill>
            <a:srgbClr val="D2521F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45" name="Picture 44" descr="atanor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81447" y="1645920"/>
            <a:ext cx="1828800" cy="407096"/>
          </a:xfrm>
          <a:prstGeom prst="rect">
            <a:avLst/>
          </a:prstGeom>
        </p:spPr>
      </p:pic>
      <p:sp>
        <p:nvSpPr>
          <p:cNvPr id="46" name="TextBox 45"/>
          <p:cNvSpPr txBox="1"/>
          <p:nvPr/>
        </p:nvSpPr>
        <p:spPr>
          <a:xfrm>
            <a:off x="914400" y="3017520"/>
            <a:ext cx="10362895" cy="7772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3600" b="1">
                <a:solidFill>
                  <a:srgbClr val="FFFFFF"/>
                </a:solidFill>
                <a:latin typeface="Helvetica World"/>
                <a:ea typeface="Helvetica World"/>
                <a:cs typeface="Helvetica World"/>
              </a:rPr>
              <a:t>답한다, 그러나 지어내지 않는다.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914400" y="3931920"/>
            <a:ext cx="1036289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500" b="0">
                <a:solidFill>
                  <a:srgbClr val="9AA1B2"/>
                </a:solidFill>
                <a:latin typeface="Helvetica World"/>
                <a:ea typeface="Helvetica World"/>
                <a:cs typeface="Helvetica World"/>
              </a:rPr>
              <a:t>AI를 빌리는 시대에서, 소유하는 시대로 — 프로그램 · 브라우저 · OS, 그리고 피지컬.</a:t>
            </a:r>
          </a:p>
        </p:txBody>
      </p:sp>
      <p:sp>
        <p:nvSpPr>
          <p:cNvPr id="48" name="Rectangle 47"/>
          <p:cNvSpPr/>
          <p:nvPr/>
        </p:nvSpPr>
        <p:spPr>
          <a:xfrm>
            <a:off x="5227167" y="4572000"/>
            <a:ext cx="1737360" cy="38100"/>
          </a:xfrm>
          <a:prstGeom prst="rect">
            <a:avLst/>
          </a:prstGeom>
          <a:gradFill>
            <a:gsLst>
              <a:gs pos="0">
                <a:srgbClr val="D2521F"/>
              </a:gs>
              <a:gs pos="100000">
                <a:srgbClr val="FF9F1C"/>
              </a:gs>
            </a:gsLst>
            <a:lin ang="0" scaled="1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TextBox 48"/>
          <p:cNvSpPr txBox="1"/>
          <p:nvPr/>
        </p:nvSpPr>
        <p:spPr>
          <a:xfrm>
            <a:off x="914400" y="4800600"/>
            <a:ext cx="10362895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2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김안석 · github.com/Cozystone/ATANOR · 2026.07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914400" y="6035040"/>
            <a:ext cx="10362895" cy="320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00000"/>
              </a:lnSpc>
            </a:pPr>
            <a:r>
              <a:rPr sz="1000" b="0">
                <a:solidFill>
                  <a:srgbClr val="6B7280"/>
                </a:solidFill>
                <a:latin typeface="Helvetica World"/>
                <a:ea typeface="Helvetica World"/>
                <a:cs typeface="Helvetica World"/>
              </a:rPr>
              <a:t>본 덱의 모든 수치는 자체 실측이며 커밋 단위로 재현됩니다.</a:t>
            </a:r>
          </a:p>
        </p:txBody>
      </p:sp>
      <p:sp>
        <p:nvSpPr>
          <p:cNvPr id="51" name="Oval 50"/>
          <p:cNvSpPr/>
          <p:nvPr/>
        </p:nvSpPr>
        <p:spPr>
          <a:xfrm>
            <a:off x="512582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527212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541842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556473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571103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585734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600364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614994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6296253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6442557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6588861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6735165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6881469" y="6547104"/>
            <a:ext cx="38100" cy="38100"/>
          </a:xfrm>
          <a:prstGeom prst="ellipse">
            <a:avLst/>
          </a:prstGeom>
          <a:solidFill>
            <a:srgbClr val="1D2330">
              <a:alpha val="8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7018248" y="6547104"/>
            <a:ext cx="57150" cy="57150"/>
          </a:xfrm>
          <a:prstGeom prst="ellipse">
            <a:avLst/>
          </a:prstGeom>
          <a:solidFill>
            <a:srgbClr val="FF8A00">
              <a:alpha val="100000"/>
            </a:srgbClr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